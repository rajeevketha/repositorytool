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MANAGER BRIEFING</a:t>
            </a:r>
          </a:p>
        </p:txBody>
      </p:sp>
      <p:sp>
        <p:nvSpPr>
          <p:cNvPr id="4" name="TextBox 3"/>
          <p:cNvSpPr txBox="1"/>
          <p:nvPr/>
        </p:nvSpPr>
        <p:spPr>
          <a:xfrm>
            <a:off x="640080" y="658368"/>
            <a:ext cx="10972800" cy="1051560"/>
          </a:xfrm>
          <a:prstGeom prst="rect">
            <a:avLst/>
          </a:prstGeom>
          <a:noFill/>
        </p:spPr>
        <p:txBody>
          <a:bodyPr wrap="square">
            <a:spAutoFit/>
          </a:bodyPr>
          <a:lstStyle/>
          <a:p>
            <a:pPr>
              <a:defRPr sz="3600" b="1">
                <a:solidFill>
                  <a:srgbClr val="FFFFFF"/>
                </a:solidFill>
                <a:latin typeface="Calibri"/>
              </a:defRPr>
            </a:pPr>
            <a:r>
              <a:t>Promote Salesforce configuration</a:t>
            </a:r>
            <a:br/>
            <a:r>
              <a:t>without a developer toolchain</a:t>
            </a:r>
          </a:p>
        </p:txBody>
      </p:sp>
      <p:sp>
        <p:nvSpPr>
          <p:cNvPr id="5" name="TextBox 4"/>
          <p:cNvSpPr txBox="1"/>
          <p:nvPr/>
        </p:nvSpPr>
        <p:spPr>
          <a:xfrm>
            <a:off x="640080" y="2834640"/>
            <a:ext cx="10881360" cy="4206240"/>
          </a:xfrm>
          <a:prstGeom prst="rect">
            <a:avLst/>
          </a:prstGeom>
          <a:noFill/>
        </p:spPr>
        <p:txBody>
          <a:bodyPr wrap="square">
            <a:spAutoFit/>
          </a:bodyPr>
          <a:lstStyle/>
          <a:p>
            <a:pPr>
              <a:defRPr sz="2000" b="0">
                <a:solidFill>
                  <a:srgbClr val="E6E4DE"/>
                </a:solidFill>
                <a:latin typeface="Calibri"/>
              </a:defRPr>
            </a:pPr>
            <a:r>
              <a:t>OrgFlow is a Chrome extension for admins and configurators. They pick the change they just built in a sandbox and send that same package to QA, then production.</a:t>
            </a:r>
            <a:br/>
            <a:br/>
            <a:r>
              <a:t>No new IDE. No mandatory Git repo. No Copado-class license. A guided From → To hop in the browser they already 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WHY THIS IS ON A MANAGER’S DESK</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Small config changes are still expensive</a:t>
            </a:r>
          </a:p>
        </p:txBody>
      </p:sp>
      <p:sp>
        <p:nvSpPr>
          <p:cNvPr id="5" name="Rounded Rectangle 4"/>
          <p:cNvSpPr/>
          <p:nvPr/>
        </p:nvSpPr>
        <p:spPr>
          <a:xfrm>
            <a:off x="640080" y="1920240"/>
            <a:ext cx="3474720" cy="393192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Handoffs</a:t>
            </a:r>
          </a:p>
          <a:p>
            <a:pPr>
              <a:spcBef>
                <a:spcPts val="800"/>
              </a:spcBef>
              <a:defRPr sz="1300">
                <a:solidFill>
                  <a:srgbClr val="8F96A3"/>
                </a:solidFill>
                <a:latin typeface="Calibri"/>
              </a:defRPr>
            </a:pPr>
            <a:r>
              <a:t>A field or layout often waits on someone who knows VS Code, a change set, or a release tool. The work took twenty minutes. The promotion takes a day.</a:t>
            </a:r>
          </a:p>
        </p:txBody>
      </p:sp>
      <p:sp>
        <p:nvSpPr>
          <p:cNvPr id="6" name="Rounded Rectangle 5"/>
          <p:cNvSpPr/>
          <p:nvPr/>
        </p:nvSpPr>
        <p:spPr>
          <a:xfrm>
            <a:off x="4297680" y="1920240"/>
            <a:ext cx="3474720" cy="393192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Tool sprawl</a:t>
            </a:r>
          </a:p>
          <a:p>
            <a:pPr>
              <a:spcBef>
                <a:spcPts val="800"/>
              </a:spcBef>
              <a:defRPr sz="1300">
                <a:solidFill>
                  <a:srgbClr val="8F96A3"/>
                </a:solidFill>
                <a:latin typeface="Calibri"/>
              </a:defRPr>
            </a:pPr>
            <a:r>
              <a:t>Workbench for zips. VS Code for source. A DevOps platform for releases. None match “send this named change to the next org.”</a:t>
            </a:r>
          </a:p>
        </p:txBody>
      </p:sp>
      <p:sp>
        <p:nvSpPr>
          <p:cNvPr id="7" name="Rounded Rectangle 6"/>
          <p:cNvSpPr/>
          <p:nvPr/>
        </p:nvSpPr>
        <p:spPr>
          <a:xfrm>
            <a:off x="7955279" y="1920240"/>
            <a:ext cx="3474720" cy="393192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Wrong package risk</a:t>
            </a:r>
          </a:p>
          <a:p>
            <a:pPr>
              <a:spcBef>
                <a:spcPts val="800"/>
              </a:spcBef>
              <a:defRPr sz="1300">
                <a:solidFill>
                  <a:srgbClr val="8F96A3"/>
                </a:solidFill>
                <a:latin typeface="Calibri"/>
              </a:defRPr>
            </a:pPr>
            <a:r>
              <a:t>People rebuild the list in each org. OrgFlow keeps one snapshot and walks it DEC → QA → prod so both receive the same files.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FIT</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Who should use it — and who should not</a:t>
            </a:r>
          </a:p>
        </p:txBody>
      </p:sp>
      <p:sp>
        <p:nvSpPr>
          <p:cNvPr id="5" name="Rounded Rectangle 4"/>
          <p:cNvSpPr/>
          <p:nvPr/>
        </p:nvSpPr>
        <p:spPr>
          <a:xfrm>
            <a:off x="640080" y="1920240"/>
            <a:ext cx="530352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Good fit</a:t>
            </a:r>
          </a:p>
          <a:p>
            <a:pPr>
              <a:spcBef>
                <a:spcPts val="800"/>
              </a:spcBef>
              <a:defRPr sz="1300">
                <a:solidFill>
                  <a:srgbClr val="8F96A3"/>
                </a:solidFill>
                <a:latin typeface="Calibri"/>
              </a:defRPr>
            </a:pPr>
            <a:r>
              <a:t>Admins and configurators who live in Setup.</a:t>
            </a:r>
            <a:br/>
            <a:r>
              <a:t>Teams that promote a handful of named items at a time.</a:t>
            </a:r>
            <a:br/>
            <a:r>
              <a:t>Orgs that want a shared history later, not on day one.</a:t>
            </a:r>
            <a:br/>
            <a:r>
              <a:t>Managers who want a pilot without a platform RFP.</a:t>
            </a:r>
          </a:p>
        </p:txBody>
      </p:sp>
      <p:sp>
        <p:nvSpPr>
          <p:cNvPr id="6" name="Rounded Rectangle 5"/>
          <p:cNvSpPr/>
          <p:nvPr/>
        </p:nvSpPr>
        <p:spPr>
          <a:xfrm>
            <a:off x="6217920" y="1920240"/>
            <a:ext cx="530352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Not a replacement for</a:t>
            </a:r>
          </a:p>
          <a:p>
            <a:pPr>
              <a:spcBef>
                <a:spcPts val="800"/>
              </a:spcBef>
              <a:defRPr sz="1300">
                <a:solidFill>
                  <a:srgbClr val="8F96A3"/>
                </a:solidFill>
                <a:latin typeface="Calibri"/>
              </a:defRPr>
            </a:pPr>
            <a:r>
              <a:t>Developer source work (Apex, LWC, CI) in VS Code.</a:t>
            </a:r>
            <a:br/>
            <a:r>
              <a:t>Enterprise release trains (Copado, Gearset, Flosum).</a:t>
            </a:r>
            <a:br/>
            <a:r>
              <a:t>Data / record migration.</a:t>
            </a:r>
            <a:br/>
            <a:r>
              <a:t>Automatic dependency analysis of a whole org.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THE WORK</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One path. Four steps. They cannot skip.</a:t>
            </a:r>
          </a:p>
        </p:txBody>
      </p:sp>
      <p:sp>
        <p:nvSpPr>
          <p:cNvPr id="5" name="Rounded Rectangle 4"/>
          <p:cNvSpPr/>
          <p:nvPr/>
        </p:nvSpPr>
        <p:spPr>
          <a:xfrm>
            <a:off x="502920" y="1920240"/>
            <a:ext cx="269748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1  Start</a:t>
            </a:r>
          </a:p>
          <a:p>
            <a:pPr>
              <a:spcBef>
                <a:spcPts val="800"/>
              </a:spcBef>
              <a:defRPr sz="1300">
                <a:solidFill>
                  <a:srgbClr val="8F96A3"/>
                </a:solidFill>
                <a:latin typeface="Calibri"/>
              </a:defRPr>
            </a:pPr>
            <a:r>
              <a:t>Log into both Salesforce orgs in Chrome. Detect them. Set From and To. They must be different.</a:t>
            </a:r>
          </a:p>
        </p:txBody>
      </p:sp>
      <p:sp>
        <p:nvSpPr>
          <p:cNvPr id="6" name="Rounded Rectangle 5"/>
          <p:cNvSpPr/>
          <p:nvPr/>
        </p:nvSpPr>
        <p:spPr>
          <a:xfrm>
            <a:off x="3337560" y="1920240"/>
            <a:ext cx="269748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2  Package</a:t>
            </a:r>
          </a:p>
          <a:p>
            <a:pPr>
              <a:spcBef>
                <a:spcPts val="800"/>
              </a:spcBef>
              <a:defRPr sz="1300">
                <a:solidFill>
                  <a:srgbClr val="8F96A3"/>
                </a:solidFill>
                <a:latin typeface="Calibri"/>
              </a:defRPr>
            </a:pPr>
            <a:r>
              <a:t>OrgFlow shows what just changed in From. They tick the items to move — not a blank XML file.</a:t>
            </a:r>
          </a:p>
        </p:txBody>
      </p:sp>
      <p:sp>
        <p:nvSpPr>
          <p:cNvPr id="7" name="Rounded Rectangle 6"/>
          <p:cNvSpPr/>
          <p:nvPr/>
        </p:nvSpPr>
        <p:spPr>
          <a:xfrm>
            <a:off x="6172200" y="1920240"/>
            <a:ext cx="269748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3  Retrieve</a:t>
            </a:r>
          </a:p>
          <a:p>
            <a:pPr>
              <a:spcBef>
                <a:spcPts val="800"/>
              </a:spcBef>
              <a:defRPr sz="1300">
                <a:solidFill>
                  <a:srgbClr val="8F96A3"/>
                </a:solidFill>
                <a:latin typeface="Calibri"/>
              </a:defRPr>
            </a:pPr>
            <a:r>
              <a:t>Pull those items from From. Optional Jira. Same files can travel to the next org later.</a:t>
            </a:r>
          </a:p>
        </p:txBody>
      </p:sp>
      <p:sp>
        <p:nvSpPr>
          <p:cNvPr id="8" name="Rounded Rectangle 7"/>
          <p:cNvSpPr/>
          <p:nvPr/>
        </p:nvSpPr>
        <p:spPr>
          <a:xfrm>
            <a:off x="9006840" y="1920240"/>
            <a:ext cx="269748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4  Confirm</a:t>
            </a:r>
          </a:p>
          <a:p>
            <a:pPr>
              <a:spcBef>
                <a:spcPts val="800"/>
              </a:spcBef>
              <a:defRPr sz="1300">
                <a:solidFill>
                  <a:srgbClr val="8F96A3"/>
                </a:solidFill>
                <a:latin typeface="Calibri"/>
              </a:defRPr>
            </a:pPr>
            <a:r>
              <a:t>See the path and what will land in To. Validate first if you want. Then Deploy.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ADOPTION</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Training is measured in minutes, not weeks</a:t>
            </a:r>
          </a:p>
        </p:txBody>
      </p:sp>
      <p:sp>
        <p:nvSpPr>
          <p:cNvPr id="5" name="Rounded Rectangle 4"/>
          <p:cNvSpPr/>
          <p:nvPr/>
        </p:nvSpPr>
        <p:spPr>
          <a:xfrm>
            <a:off x="640080" y="1920240"/>
            <a:ext cx="530352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What people already have</a:t>
            </a:r>
          </a:p>
          <a:p>
            <a:pPr>
              <a:spcBef>
                <a:spcPts val="800"/>
              </a:spcBef>
              <a:defRPr sz="1300">
                <a:solidFill>
                  <a:srgbClr val="8F96A3"/>
                </a:solidFill>
                <a:latin typeface="Calibri"/>
              </a:defRPr>
            </a:pPr>
            <a:r>
              <a:t>Chrome. Two Salesforce logins. That is the setup. OrgFlow uses the existing browser session. No Connected App, no CLI install, no project folder.</a:t>
            </a:r>
          </a:p>
        </p:txBody>
      </p:sp>
      <p:sp>
        <p:nvSpPr>
          <p:cNvPr id="6" name="Rounded Rectangle 5"/>
          <p:cNvSpPr/>
          <p:nvPr/>
        </p:nvSpPr>
        <p:spPr>
          <a:xfrm>
            <a:off x="6217920" y="1920240"/>
            <a:ext cx="530352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What the product refuses to do</a:t>
            </a:r>
          </a:p>
          <a:p>
            <a:pPr>
              <a:spcBef>
                <a:spcPts val="800"/>
              </a:spcBef>
              <a:defRPr sz="1300">
                <a:solidFill>
                  <a:srgbClr val="8F96A3"/>
                </a:solidFill>
                <a:latin typeface="Calibri"/>
              </a:defRPr>
            </a:pPr>
            <a:r>
              <a:t>Next stays off until From and To are different orgs. Deploy stays off until retrieve succeeded. Changing From clears the old selection so yesterday’s package does not silently go to the wrong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VERSUS WORKBENCH</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Workbench is a console. OrgFlow is a promotion.</a:t>
            </a:r>
          </a:p>
        </p:txBody>
      </p:sp>
      <p:graphicFrame>
        <p:nvGraphicFramePr>
          <p:cNvPr id="5" name="Table 4"/>
          <p:cNvGraphicFramePr>
            <a:graphicFrameLocks noGrp="1"/>
          </p:cNvGraphicFramePr>
          <p:nvPr/>
        </p:nvGraphicFramePr>
        <p:xfrm>
          <a:off x="640080" y="1874519"/>
          <a:ext cx="10881360" cy="4206240"/>
        </p:xfrm>
        <a:graphic>
          <a:graphicData uri="http://schemas.openxmlformats.org/drawingml/2006/table">
            <a:tbl>
              <a:tblPr firstRow="1" bandRow="1">
                <a:tableStyleId>{5C22544A-7EE6-4342-B048-85BDC9FD1C3A}</a:tableStyleId>
              </a:tblPr>
              <a:tblGrid>
                <a:gridCol w="2011680"/>
                <a:gridCol w="4434840"/>
                <a:gridCol w="4434840"/>
              </a:tblGrid>
              <a:tr h="841248">
                <a:tc>
                  <a:txBody>
                    <a:bodyPr/>
                    <a:lstStyle/>
                    <a:p>
                      <a:pPr>
                        <a:defRPr sz="1100" b="1">
                          <a:solidFill>
                            <a:srgbClr val="C5BBA8"/>
                          </a:solidFill>
                          <a:latin typeface="Calibri"/>
                        </a:defRPr>
                      </a:pPr>
                    </a:p>
                  </a:txBody>
                  <a:tcPr>
                    <a:solidFill>
                      <a:srgbClr val="1C212C"/>
                    </a:solidFill>
                  </a:tcPr>
                </a:tc>
                <a:tc>
                  <a:txBody>
                    <a:bodyPr/>
                    <a:lstStyle/>
                    <a:p>
                      <a:pPr>
                        <a:defRPr sz="1100" b="1">
                          <a:solidFill>
                            <a:srgbClr val="C5BBA8"/>
                          </a:solidFill>
                          <a:latin typeface="Calibri"/>
                        </a:defRPr>
                      </a:pPr>
                      <a:r>
                        <a:t>Salesforce Workbench</a:t>
                      </a:r>
                    </a:p>
                  </a:txBody>
                  <a:tcPr>
                    <a:solidFill>
                      <a:srgbClr val="1C212C"/>
                    </a:solidFill>
                  </a:tcPr>
                </a:tc>
                <a:tc>
                  <a:txBody>
                    <a:bodyPr/>
                    <a:lstStyle/>
                    <a:p>
                      <a:pPr>
                        <a:defRPr sz="1100" b="1">
                          <a:solidFill>
                            <a:srgbClr val="C5BBA8"/>
                          </a:solidFill>
                          <a:latin typeface="Calibri"/>
                        </a:defRPr>
                      </a:pPr>
                      <a:r>
                        <a:t>OrgFlow</a:t>
                      </a:r>
                    </a:p>
                  </a:txBody>
                  <a:tcPr>
                    <a:solidFill>
                      <a:srgbClr val="1C212C"/>
                    </a:solidFill>
                  </a:tcPr>
                </a:tc>
              </a:tr>
              <a:tr h="841248">
                <a:tc>
                  <a:txBody>
                    <a:bodyPr/>
                    <a:lstStyle/>
                    <a:p>
                      <a:pPr>
                        <a:defRPr sz="1200" b="0">
                          <a:solidFill>
                            <a:srgbClr val="E6E4DE"/>
                          </a:solidFill>
                          <a:latin typeface="Calibri"/>
                        </a:defRPr>
                      </a:pPr>
                      <a:r>
                        <a:t>Role</a:t>
                      </a:r>
                    </a:p>
                  </a:txBody>
                  <a:tcPr>
                    <a:solidFill>
                      <a:srgbClr val="1C212C"/>
                    </a:solidFill>
                  </a:tcPr>
                </a:tc>
                <a:tc>
                  <a:txBody>
                    <a:bodyPr/>
                    <a:lstStyle/>
                    <a:p>
                      <a:pPr>
                        <a:defRPr sz="1200" b="0">
                          <a:solidFill>
                            <a:srgbClr val="E6E4DE"/>
                          </a:solidFill>
                          <a:latin typeface="Calibri"/>
                        </a:defRPr>
                      </a:pPr>
                      <a:r>
                        <a:t>Expert API tool. Retrieve or deploy a zip someone already prepared.</a:t>
                      </a:r>
                    </a:p>
                  </a:txBody>
                  <a:tcPr>
                    <a:solidFill>
                      <a:srgbClr val="1C212C"/>
                    </a:solidFill>
                  </a:tcPr>
                </a:tc>
                <a:tc>
                  <a:txBody>
                    <a:bodyPr/>
                    <a:lstStyle/>
                    <a:p>
                      <a:pPr>
                        <a:defRPr sz="1200" b="0">
                          <a:solidFill>
                            <a:srgbClr val="E6E4DE"/>
                          </a:solidFill>
                          <a:latin typeface="Calibri"/>
                        </a:defRPr>
                      </a:pPr>
                      <a:r>
                        <a:t>Daily path for “I built this in sandbox — send it to QA.”</a:t>
                      </a:r>
                    </a:p>
                  </a:txBody>
                  <a:tcPr>
                    <a:solidFill>
                      <a:srgbClr val="1C212C"/>
                    </a:solidFill>
                  </a:tcPr>
                </a:tc>
              </a:tr>
              <a:tr h="841248">
                <a:tc>
                  <a:txBody>
                    <a:bodyPr/>
                    <a:lstStyle/>
                    <a:p>
                      <a:pPr>
                        <a:defRPr sz="1200" b="0">
                          <a:solidFill>
                            <a:srgbClr val="E6E4DE"/>
                          </a:solidFill>
                          <a:latin typeface="Calibri"/>
                        </a:defRPr>
                      </a:pPr>
                      <a:r>
                        <a:t>Skill</a:t>
                      </a:r>
                    </a:p>
                  </a:txBody>
                  <a:tcPr>
                    <a:solidFill>
                      <a:srgbClr val="1C212C"/>
                    </a:solidFill>
                  </a:tcPr>
                </a:tc>
                <a:tc>
                  <a:txBody>
                    <a:bodyPr/>
                    <a:lstStyle/>
                    <a:p>
                      <a:pPr>
                        <a:defRPr sz="1200" b="0">
                          <a:solidFill>
                            <a:srgbClr val="E6E4DE"/>
                          </a:solidFill>
                          <a:latin typeface="Calibri"/>
                        </a:defRPr>
                      </a:pPr>
                      <a:r>
                        <a:t>You must know package.xml and Metadata API layout.</a:t>
                      </a:r>
                    </a:p>
                  </a:txBody>
                  <a:tcPr>
                    <a:solidFill>
                      <a:srgbClr val="1C212C"/>
                    </a:solidFill>
                  </a:tcPr>
                </a:tc>
                <a:tc>
                  <a:txBody>
                    <a:bodyPr/>
                    <a:lstStyle/>
                    <a:p>
                      <a:pPr>
                        <a:defRPr sz="1200" b="0">
                          <a:solidFill>
                            <a:srgbClr val="E6E4DE"/>
                          </a:solidFill>
                          <a:latin typeface="Calibri"/>
                        </a:defRPr>
                      </a:pPr>
                      <a:r>
                        <a:t>Tick names. The package is built for them.</a:t>
                      </a:r>
                    </a:p>
                  </a:txBody>
                  <a:tcPr>
                    <a:solidFill>
                      <a:srgbClr val="1C212C"/>
                    </a:solidFill>
                  </a:tcPr>
                </a:tc>
              </a:tr>
              <a:tr h="841248">
                <a:tc>
                  <a:txBody>
                    <a:bodyPr/>
                    <a:lstStyle/>
                    <a:p>
                      <a:pPr>
                        <a:defRPr sz="1200" b="0">
                          <a:solidFill>
                            <a:srgbClr val="E6E4DE"/>
                          </a:solidFill>
                          <a:latin typeface="Calibri"/>
                        </a:defRPr>
                      </a:pPr>
                      <a:r>
                        <a:t>Repeatability</a:t>
                      </a:r>
                    </a:p>
                  </a:txBody>
                  <a:tcPr>
                    <a:solidFill>
                      <a:srgbClr val="1C212C"/>
                    </a:solidFill>
                  </a:tcPr>
                </a:tc>
                <a:tc>
                  <a:txBody>
                    <a:bodyPr/>
                    <a:lstStyle/>
                    <a:p>
                      <a:pPr>
                        <a:defRPr sz="1200" b="0">
                          <a:solidFill>
                            <a:srgbClr val="E6E4DE"/>
                          </a:solidFill>
                          <a:latin typeface="Calibri"/>
                        </a:defRPr>
                      </a:pPr>
                      <a:r>
                        <a:t>Each org is a new session. Easy to send a different list next time.</a:t>
                      </a:r>
                    </a:p>
                  </a:txBody>
                  <a:tcPr>
                    <a:solidFill>
                      <a:srgbClr val="1C212C"/>
                    </a:solidFill>
                  </a:tcPr>
                </a:tc>
                <a:tc>
                  <a:txBody>
                    <a:bodyPr/>
                    <a:lstStyle/>
                    <a:p>
                      <a:pPr>
                        <a:defRPr sz="1200" b="0">
                          <a:solidFill>
                            <a:srgbClr val="E6E4DE"/>
                          </a:solidFill>
                          <a:latin typeface="Calibri"/>
                        </a:defRPr>
                      </a:pPr>
                      <a:r>
                        <a:t>One snapshot. Same files can hop to the next environment.</a:t>
                      </a:r>
                    </a:p>
                  </a:txBody>
                  <a:tcPr>
                    <a:solidFill>
                      <a:srgbClr val="1C212C"/>
                    </a:solidFill>
                  </a:tcPr>
                </a:tc>
              </a:tr>
              <a:tr h="841248">
                <a:tc>
                  <a:txBody>
                    <a:bodyPr/>
                    <a:lstStyle/>
                    <a:p>
                      <a:pPr>
                        <a:defRPr sz="1200" b="0">
                          <a:solidFill>
                            <a:srgbClr val="E6E4DE"/>
                          </a:solidFill>
                          <a:latin typeface="Calibri"/>
                        </a:defRPr>
                      </a:pPr>
                      <a:r>
                        <a:t>Oversight</a:t>
                      </a:r>
                    </a:p>
                  </a:txBody>
                  <a:tcPr>
                    <a:solidFill>
                      <a:srgbClr val="1C212C"/>
                    </a:solidFill>
                  </a:tcPr>
                </a:tc>
                <a:tc>
                  <a:txBody>
                    <a:bodyPr/>
                    <a:lstStyle/>
                    <a:p>
                      <a:pPr>
                        <a:defRPr sz="1200" b="0">
                          <a:solidFill>
                            <a:srgbClr val="E6E4DE"/>
                          </a:solidFill>
                          <a:latin typeface="Calibri"/>
                        </a:defRPr>
                      </a:pPr>
                      <a:r>
                        <a:t>No From → To bar. Easy to deploy back into the same org.</a:t>
                      </a:r>
                    </a:p>
                  </a:txBody>
                  <a:tcPr>
                    <a:solidFill>
                      <a:srgbClr val="1C212C"/>
                    </a:solidFill>
                  </a:tcPr>
                </a:tc>
                <a:tc>
                  <a:txBody>
                    <a:bodyPr/>
                    <a:lstStyle/>
                    <a:p>
                      <a:pPr>
                        <a:defRPr sz="1200" b="0">
                          <a:solidFill>
                            <a:srgbClr val="E6E4DE"/>
                          </a:solidFill>
                          <a:latin typeface="Calibri"/>
                        </a:defRPr>
                      </a:pPr>
                      <a:r>
                        <a:t>From and To must differ. Confirm shows the path before send.</a:t>
                      </a:r>
                    </a:p>
                  </a:txBody>
                  <a:tcPr>
                    <a:solidFill>
                      <a:srgbClr val="1C212C"/>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VERSUS VS CODE</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Do not send configurators into an IDE to move a layout</a:t>
            </a:r>
          </a:p>
        </p:txBody>
      </p:sp>
      <p:graphicFrame>
        <p:nvGraphicFramePr>
          <p:cNvPr id="5" name="Table 4"/>
          <p:cNvGraphicFramePr>
            <a:graphicFrameLocks noGrp="1"/>
          </p:cNvGraphicFramePr>
          <p:nvPr/>
        </p:nvGraphicFramePr>
        <p:xfrm>
          <a:off x="640080" y="1874519"/>
          <a:ext cx="10881360" cy="4206240"/>
        </p:xfrm>
        <a:graphic>
          <a:graphicData uri="http://schemas.openxmlformats.org/drawingml/2006/table">
            <a:tbl>
              <a:tblPr firstRow="1" bandRow="1">
                <a:tableStyleId>{5C22544A-7EE6-4342-B048-85BDC9FD1C3A}</a:tableStyleId>
              </a:tblPr>
              <a:tblGrid>
                <a:gridCol w="2011680"/>
                <a:gridCol w="4434840"/>
                <a:gridCol w="4434840"/>
              </a:tblGrid>
              <a:tr h="841248">
                <a:tc>
                  <a:txBody>
                    <a:bodyPr/>
                    <a:lstStyle/>
                    <a:p>
                      <a:pPr>
                        <a:defRPr sz="1100" b="1">
                          <a:solidFill>
                            <a:srgbClr val="C5BBA8"/>
                          </a:solidFill>
                          <a:latin typeface="Calibri"/>
                        </a:defRPr>
                      </a:pPr>
                    </a:p>
                  </a:txBody>
                  <a:tcPr>
                    <a:solidFill>
                      <a:srgbClr val="1C212C"/>
                    </a:solidFill>
                  </a:tcPr>
                </a:tc>
                <a:tc>
                  <a:txBody>
                    <a:bodyPr/>
                    <a:lstStyle/>
                    <a:p>
                      <a:pPr>
                        <a:defRPr sz="1100" b="1">
                          <a:solidFill>
                            <a:srgbClr val="C5BBA8"/>
                          </a:solidFill>
                          <a:latin typeface="Calibri"/>
                        </a:defRPr>
                      </a:pPr>
                      <a:r>
                        <a:t>VS Code + Salesforce CLI</a:t>
                      </a:r>
                    </a:p>
                  </a:txBody>
                  <a:tcPr>
                    <a:solidFill>
                      <a:srgbClr val="1C212C"/>
                    </a:solidFill>
                  </a:tcPr>
                </a:tc>
                <a:tc>
                  <a:txBody>
                    <a:bodyPr/>
                    <a:lstStyle/>
                    <a:p>
                      <a:pPr>
                        <a:defRPr sz="1100" b="1">
                          <a:solidFill>
                            <a:srgbClr val="C5BBA8"/>
                          </a:solidFill>
                          <a:latin typeface="Calibri"/>
                        </a:defRPr>
                      </a:pPr>
                      <a:r>
                        <a:t>OrgFlow</a:t>
                      </a:r>
                    </a:p>
                  </a:txBody>
                  <a:tcPr>
                    <a:solidFill>
                      <a:srgbClr val="1C212C"/>
                    </a:solidFill>
                  </a:tcPr>
                </a:tc>
              </a:tr>
              <a:tr h="841248">
                <a:tc>
                  <a:txBody>
                    <a:bodyPr/>
                    <a:lstStyle/>
                    <a:p>
                      <a:pPr>
                        <a:defRPr sz="1200" b="0">
                          <a:solidFill>
                            <a:srgbClr val="E6E4DE"/>
                          </a:solidFill>
                          <a:latin typeface="Calibri"/>
                        </a:defRPr>
                      </a:pPr>
                      <a:r>
                        <a:t>Staffing</a:t>
                      </a:r>
                    </a:p>
                  </a:txBody>
                  <a:tcPr>
                    <a:solidFill>
                      <a:srgbClr val="1C212C"/>
                    </a:solidFill>
                  </a:tcPr>
                </a:tc>
                <a:tc>
                  <a:txBody>
                    <a:bodyPr/>
                    <a:lstStyle/>
                    <a:p>
                      <a:pPr>
                        <a:defRPr sz="1200" b="0">
                          <a:solidFill>
                            <a:srgbClr val="E6E4DE"/>
                          </a:solidFill>
                          <a:latin typeface="Calibri"/>
                        </a:defRPr>
                      </a:pPr>
                      <a:r>
                        <a:t>Developers and technical admins. Scratch orgs, source, CI.</a:t>
                      </a:r>
                    </a:p>
                  </a:txBody>
                  <a:tcPr>
                    <a:solidFill>
                      <a:srgbClr val="1C212C"/>
                    </a:solidFill>
                  </a:tcPr>
                </a:tc>
                <a:tc>
                  <a:txBody>
                    <a:bodyPr/>
                    <a:lstStyle/>
                    <a:p>
                      <a:pPr>
                        <a:defRPr sz="1200" b="0">
                          <a:solidFill>
                            <a:srgbClr val="E6E4DE"/>
                          </a:solidFill>
                          <a:latin typeface="Calibri"/>
                        </a:defRPr>
                      </a:pPr>
                      <a:r>
                        <a:t>Configurators who work in Setup all day.</a:t>
                      </a:r>
                    </a:p>
                  </a:txBody>
                  <a:tcPr>
                    <a:solidFill>
                      <a:srgbClr val="1C212C"/>
                    </a:solidFill>
                  </a:tcPr>
                </a:tc>
              </a:tr>
              <a:tr h="841248">
                <a:tc>
                  <a:txBody>
                    <a:bodyPr/>
                    <a:lstStyle/>
                    <a:p>
                      <a:pPr>
                        <a:defRPr sz="1200" b="0">
                          <a:solidFill>
                            <a:srgbClr val="E6E4DE"/>
                          </a:solidFill>
                          <a:latin typeface="Calibri"/>
                        </a:defRPr>
                      </a:pPr>
                      <a:r>
                        <a:t>Onboarding</a:t>
                      </a:r>
                    </a:p>
                  </a:txBody>
                  <a:tcPr>
                    <a:solidFill>
                      <a:srgbClr val="1C212C"/>
                    </a:solidFill>
                  </a:tcPr>
                </a:tc>
                <a:tc>
                  <a:txBody>
                    <a:bodyPr/>
                    <a:lstStyle/>
                    <a:p>
                      <a:pPr>
                        <a:defRPr sz="1200" b="0">
                          <a:solidFill>
                            <a:srgbClr val="E6E4DE"/>
                          </a:solidFill>
                          <a:latin typeface="Calibri"/>
                        </a:defRPr>
                      </a:pPr>
                      <a:r>
                        <a:t>Authorize an org, create a DX project, learn retrieve/deploy.</a:t>
                      </a:r>
                    </a:p>
                  </a:txBody>
                  <a:tcPr>
                    <a:solidFill>
                      <a:srgbClr val="1C212C"/>
                    </a:solidFill>
                  </a:tcPr>
                </a:tc>
                <a:tc>
                  <a:txBody>
                    <a:bodyPr/>
                    <a:lstStyle/>
                    <a:p>
                      <a:pPr>
                        <a:defRPr sz="1200" b="0">
                          <a:solidFill>
                            <a:srgbClr val="E6E4DE"/>
                          </a:solidFill>
                          <a:latin typeface="Calibri"/>
                        </a:defRPr>
                      </a:pPr>
                      <a:r>
                        <a:t>Install a Chrome extension. Detect orgs. Follow Next.</a:t>
                      </a:r>
                    </a:p>
                  </a:txBody>
                  <a:tcPr>
                    <a:solidFill>
                      <a:srgbClr val="1C212C"/>
                    </a:solidFill>
                  </a:tcPr>
                </a:tc>
              </a:tr>
              <a:tr h="841248">
                <a:tc>
                  <a:txBody>
                    <a:bodyPr/>
                    <a:lstStyle/>
                    <a:p>
                      <a:pPr>
                        <a:defRPr sz="1200" b="0">
                          <a:solidFill>
                            <a:srgbClr val="E6E4DE"/>
                          </a:solidFill>
                          <a:latin typeface="Calibri"/>
                        </a:defRPr>
                      </a:pPr>
                      <a:r>
                        <a:t>System of record</a:t>
                      </a:r>
                    </a:p>
                  </a:txBody>
                  <a:tcPr>
                    <a:solidFill>
                      <a:srgbClr val="1C212C"/>
                    </a:solidFill>
                  </a:tcPr>
                </a:tc>
                <a:tc>
                  <a:txBody>
                    <a:bodyPr/>
                    <a:lstStyle/>
                    <a:p>
                      <a:pPr>
                        <a:defRPr sz="1200" b="0">
                          <a:solidFill>
                            <a:srgbClr val="E6E4DE"/>
                          </a:solidFill>
                          <a:latin typeface="Calibri"/>
                        </a:defRPr>
                      </a:pPr>
                      <a:r>
                        <a:t>The Git repo is the product. Correct for engineering.</a:t>
                      </a:r>
                    </a:p>
                  </a:txBody>
                  <a:tcPr>
                    <a:solidFill>
                      <a:srgbClr val="1C212C"/>
                    </a:solidFill>
                  </a:tcPr>
                </a:tc>
                <a:tc>
                  <a:txBody>
                    <a:bodyPr/>
                    <a:lstStyle/>
                    <a:p>
                      <a:pPr>
                        <a:defRPr sz="1200" b="0">
                          <a:solidFill>
                            <a:srgbClr val="E6E4DE"/>
                          </a:solidFill>
                          <a:latin typeface="Calibri"/>
                        </a:defRPr>
                      </a:pPr>
                      <a:r>
                        <a:t>Git is optional. A shared repo is a later decision, not a gate.</a:t>
                      </a:r>
                    </a:p>
                  </a:txBody>
                  <a:tcPr>
                    <a:solidFill>
                      <a:srgbClr val="1C212C"/>
                    </a:solidFill>
                  </a:tcPr>
                </a:tc>
              </a:tr>
              <a:tr h="841248">
                <a:tc>
                  <a:txBody>
                    <a:bodyPr/>
                    <a:lstStyle/>
                    <a:p>
                      <a:pPr>
                        <a:defRPr sz="1200" b="0">
                          <a:solidFill>
                            <a:srgbClr val="E6E4DE"/>
                          </a:solidFill>
                          <a:latin typeface="Calibri"/>
                        </a:defRPr>
                      </a:pPr>
                      <a:r>
                        <a:t>Small change</a:t>
                      </a:r>
                    </a:p>
                  </a:txBody>
                  <a:tcPr>
                    <a:solidFill>
                      <a:srgbClr val="1C212C"/>
                    </a:solidFill>
                  </a:tcPr>
                </a:tc>
                <a:tc>
                  <a:txBody>
                    <a:bodyPr/>
                    <a:lstStyle/>
                    <a:p>
                      <a:pPr>
                        <a:defRPr sz="1200" b="0">
                          <a:solidFill>
                            <a:srgbClr val="E6E4DE"/>
                          </a:solidFill>
                          <a:latin typeface="Calibri"/>
                        </a:defRPr>
                      </a:pPr>
                      <a:r>
                        <a:t>Worth it for Apex and LWC. Overhead for one field and a layout.</a:t>
                      </a:r>
                    </a:p>
                  </a:txBody>
                  <a:tcPr>
                    <a:solidFill>
                      <a:srgbClr val="1C212C"/>
                    </a:solidFill>
                  </a:tcPr>
                </a:tc>
                <a:tc>
                  <a:txBody>
                    <a:bodyPr/>
                    <a:lstStyle/>
                    <a:p>
                      <a:pPr>
                        <a:defRPr sz="1200" b="0">
                          <a:solidFill>
                            <a:srgbClr val="E6E4DE"/>
                          </a:solidFill>
                          <a:latin typeface="Calibri"/>
                        </a:defRPr>
                      </a:pPr>
                      <a:r>
                        <a:t>Built for that small change.</a:t>
                      </a:r>
                    </a:p>
                  </a:txBody>
                  <a:tcPr>
                    <a:solidFill>
                      <a:srgbClr val="1C212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VERSUS TOOLS YOU MAY ALREADY PAY FOR</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Complement, do not rip and replace</a:t>
            </a:r>
          </a:p>
        </p:txBody>
      </p:sp>
      <p:sp>
        <p:nvSpPr>
          <p:cNvPr id="5" name="Rounded Rectangle 4"/>
          <p:cNvSpPr/>
          <p:nvPr/>
        </p:nvSpPr>
        <p:spPr>
          <a:xfrm>
            <a:off x="640080" y="1874519"/>
            <a:ext cx="5303520" cy="192024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Change Sets</a:t>
            </a:r>
          </a:p>
          <a:p>
            <a:pPr>
              <a:spcBef>
                <a:spcPts val="800"/>
              </a:spcBef>
              <a:defRPr sz="1300">
                <a:solidFill>
                  <a:srgbClr val="8F96A3"/>
                </a:solidFill>
                <a:latin typeface="Calibri"/>
              </a:defRPr>
            </a:pPr>
            <a:r>
              <a:t>Slow, easy to miss a dependency, awkward to reuse. OrgFlow is a named list, one hop, result on the same screen.</a:t>
            </a:r>
          </a:p>
        </p:txBody>
      </p:sp>
      <p:sp>
        <p:nvSpPr>
          <p:cNvPr id="6" name="Rounded Rectangle 5"/>
          <p:cNvSpPr/>
          <p:nvPr/>
        </p:nvSpPr>
        <p:spPr>
          <a:xfrm>
            <a:off x="6217920" y="1874519"/>
            <a:ext cx="5303520" cy="192024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Copado / Gearset / Flosum</a:t>
            </a:r>
          </a:p>
          <a:p>
            <a:pPr>
              <a:spcBef>
                <a:spcPts val="800"/>
              </a:spcBef>
              <a:defRPr sz="1300">
                <a:solidFill>
                  <a:srgbClr val="8F96A3"/>
                </a:solidFill>
                <a:latin typeface="Calibri"/>
              </a:defRPr>
            </a:pPr>
            <a:r>
              <a:t>Right for release trains and compliance programs. Wrong as the only way to send two fields to QA. OrgFlow sits beside those platforms.</a:t>
            </a:r>
          </a:p>
        </p:txBody>
      </p:sp>
      <p:sp>
        <p:nvSpPr>
          <p:cNvPr id="7" name="Rounded Rectangle 6"/>
          <p:cNvSpPr/>
          <p:nvPr/>
        </p:nvSpPr>
        <p:spPr>
          <a:xfrm>
            <a:off x="640080" y="3977639"/>
            <a:ext cx="5303520" cy="192024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Git-only process</a:t>
            </a:r>
          </a:p>
          <a:p>
            <a:pPr>
              <a:spcBef>
                <a:spcPts val="800"/>
              </a:spcBef>
              <a:defRPr sz="1300">
                <a:solidFill>
                  <a:srgbClr val="8F96A3"/>
                </a:solidFill>
                <a:latin typeface="Calibri"/>
              </a:defRPr>
            </a:pPr>
            <a:r>
              <a:t>A repo without a simple picker still requires a developer. OrgFlow can write versions into GitHub, GitLab, or Azure after members are chosen.</a:t>
            </a:r>
          </a:p>
        </p:txBody>
      </p:sp>
      <p:sp>
        <p:nvSpPr>
          <p:cNvPr id="8" name="Rounded Rectangle 7"/>
          <p:cNvSpPr/>
          <p:nvPr/>
        </p:nvSpPr>
        <p:spPr>
          <a:xfrm>
            <a:off x="6217920" y="3977639"/>
            <a:ext cx="5303520" cy="192024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Explicit limits</a:t>
            </a:r>
          </a:p>
          <a:p>
            <a:pPr>
              <a:spcBef>
                <a:spcPts val="800"/>
              </a:spcBef>
              <a:defRPr sz="1300">
                <a:solidFill>
                  <a:srgbClr val="8F96A3"/>
                </a:solidFill>
                <a:latin typeface="Calibri"/>
              </a:defRPr>
            </a:pPr>
            <a:r>
              <a:t>No data (records). No full-org compare. No automatic dependency graph. People promote what they selected, not what a scanner guessed.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CONTROLS</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What you can tell security and release owners</a:t>
            </a:r>
          </a:p>
        </p:txBody>
      </p:sp>
      <p:sp>
        <p:nvSpPr>
          <p:cNvPr id="5" name="Rounded Rectangle 4"/>
          <p:cNvSpPr/>
          <p:nvPr/>
        </p:nvSpPr>
        <p:spPr>
          <a:xfrm>
            <a:off x="640080" y="1920240"/>
            <a:ext cx="3474720" cy="393192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Access</a:t>
            </a:r>
          </a:p>
          <a:p>
            <a:pPr>
              <a:spcBef>
                <a:spcPts val="800"/>
              </a:spcBef>
              <a:defRPr sz="1300">
                <a:solidFill>
                  <a:srgbClr val="8F96A3"/>
                </a:solidFill>
                <a:latin typeface="Calibri"/>
              </a:defRPr>
            </a:pPr>
            <a:r>
              <a:t>Uses the Salesforce session already in Chrome. No Connected App to approve. Git tokens, if used, stay in that browser.</a:t>
            </a:r>
          </a:p>
        </p:txBody>
      </p:sp>
      <p:sp>
        <p:nvSpPr>
          <p:cNvPr id="6" name="Rounded Rectangle 5"/>
          <p:cNvSpPr/>
          <p:nvPr/>
        </p:nvSpPr>
        <p:spPr>
          <a:xfrm>
            <a:off x="4297680" y="1920240"/>
            <a:ext cx="3474720" cy="393192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Blast radius</a:t>
            </a:r>
          </a:p>
          <a:p>
            <a:pPr>
              <a:spcBef>
                <a:spcPts val="800"/>
              </a:spcBef>
              <a:defRPr sz="1300">
                <a:solidFill>
                  <a:srgbClr val="8F96A3"/>
                </a:solidFill>
                <a:latin typeface="Calibri"/>
              </a:defRPr>
            </a:pPr>
            <a:r>
              <a:t>Named members only. From and To cannot be the same org. Validate is a dry run. Production can still run Apex tests.</a:t>
            </a:r>
          </a:p>
        </p:txBody>
      </p:sp>
      <p:sp>
        <p:nvSpPr>
          <p:cNvPr id="7" name="Rounded Rectangle 6"/>
          <p:cNvSpPr/>
          <p:nvPr/>
        </p:nvSpPr>
        <p:spPr>
          <a:xfrm>
            <a:off x="7955279" y="1920240"/>
            <a:ext cx="3474720" cy="393192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Audit</a:t>
            </a:r>
          </a:p>
          <a:p>
            <a:pPr>
              <a:spcBef>
                <a:spcPts val="800"/>
              </a:spcBef>
              <a:defRPr sz="1300">
                <a:solidFill>
                  <a:srgbClr val="8F96A3"/>
                </a:solidFill>
                <a:latin typeface="Calibri"/>
              </a:defRPr>
            </a:pPr>
            <a:r>
              <a:t>On this device: local snapshots, optional Jira. With a release repo: Jira key and comment are required; versions live in the team warehouse.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SUGGESTED NEXT STEP</a:t>
            </a:r>
          </a:p>
        </p:txBody>
      </p:sp>
      <p:sp>
        <p:nvSpPr>
          <p:cNvPr id="4" name="TextBox 3"/>
          <p:cNvSpPr txBox="1"/>
          <p:nvPr/>
        </p:nvSpPr>
        <p:spPr>
          <a:xfrm>
            <a:off x="640080" y="658368"/>
            <a:ext cx="10972800" cy="1051560"/>
          </a:xfrm>
          <a:prstGeom prst="rect">
            <a:avLst/>
          </a:prstGeom>
          <a:noFill/>
        </p:spPr>
        <p:txBody>
          <a:bodyPr wrap="square">
            <a:spAutoFit/>
          </a:bodyPr>
          <a:lstStyle/>
          <a:p>
            <a:pPr>
              <a:defRPr sz="3200" b="1">
                <a:solidFill>
                  <a:srgbClr val="FFFFFF"/>
                </a:solidFill>
                <a:latin typeface="Calibri"/>
              </a:defRPr>
            </a:pPr>
            <a:r>
              <a:t>A two-week pilot, not a program</a:t>
            </a:r>
          </a:p>
        </p:txBody>
      </p:sp>
      <p:sp>
        <p:nvSpPr>
          <p:cNvPr id="5" name="Rounded Rectangle 4"/>
          <p:cNvSpPr/>
          <p:nvPr/>
        </p:nvSpPr>
        <p:spPr>
          <a:xfrm>
            <a:off x="640080" y="1920240"/>
            <a:ext cx="530352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Pilot</a:t>
            </a:r>
          </a:p>
          <a:p>
            <a:pPr>
              <a:spcBef>
                <a:spcPts val="800"/>
              </a:spcBef>
              <a:defRPr sz="1300">
                <a:solidFill>
                  <a:srgbClr val="8F96A3"/>
                </a:solidFill>
                <a:latin typeface="Calibri"/>
              </a:defRPr>
            </a:pPr>
            <a:r>
              <a:t>Two people, two sandbox or disposable orgs.</a:t>
            </a:r>
            <a:br/>
            <a:r>
              <a:t>One real config change (field + layout or a flow).</a:t>
            </a:r>
            <a:br/>
            <a:r>
              <a:t>Promote sandbox → QA with storage on this device.</a:t>
            </a:r>
            <a:br/>
            <a:r>
              <a:t>Optional: turn on a test Git repo in week two.</a:t>
            </a:r>
          </a:p>
        </p:txBody>
      </p:sp>
      <p:sp>
        <p:nvSpPr>
          <p:cNvPr id="6" name="Rounded Rectangle 5"/>
          <p:cNvSpPr/>
          <p:nvPr/>
        </p:nvSpPr>
        <p:spPr>
          <a:xfrm>
            <a:off x="6217920" y="1920240"/>
            <a:ext cx="5303520" cy="4023360"/>
          </a:xfrm>
          <a:prstGeom prst="roundRect">
            <a:avLst/>
          </a:prstGeom>
          <a:solidFill>
            <a:srgbClr val="1C212C"/>
          </a:solidFill>
          <a:ln>
            <a:solidFill>
              <a:srgbClr val="3A3F4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109728"/>
          <a:lstStyle/>
          <a:p>
            <a:pPr algn="ctr">
              <a:defRPr sz="1600" b="1">
                <a:solidFill>
                  <a:srgbClr val="FFFFFF"/>
                </a:solidFill>
                <a:latin typeface="Calibri"/>
              </a:defRPr>
            </a:pPr>
            <a:r>
              <a:t>Success looks like</a:t>
            </a:r>
          </a:p>
          <a:p>
            <a:pPr>
              <a:spcBef>
                <a:spcPts val="800"/>
              </a:spcBef>
              <a:defRPr sz="1300">
                <a:solidFill>
                  <a:srgbClr val="8F96A3"/>
                </a:solidFill>
                <a:latin typeface="Calibri"/>
              </a:defRPr>
            </a:pPr>
            <a:r>
              <a:t>They complete a hop without a developer.</a:t>
            </a:r>
            <a:br/>
            <a:r>
              <a:t>QA receives the same members they picked.</a:t>
            </a:r>
            <a:br/>
            <a:r>
              <a:t>No new platform license to evaluate first.</a:t>
            </a:r>
            <a:br/>
            <a:r>
              <a:t>You decide later if the team needs a shared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5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47472"/>
            <a:ext cx="10972800" cy="320040"/>
          </a:xfrm>
          <a:prstGeom prst="rect">
            <a:avLst/>
          </a:prstGeom>
          <a:noFill/>
        </p:spPr>
        <p:txBody>
          <a:bodyPr wrap="square">
            <a:spAutoFit/>
          </a:bodyPr>
          <a:lstStyle/>
          <a:p>
            <a:pPr>
              <a:defRPr sz="1200" b="1">
                <a:solidFill>
                  <a:srgbClr val="C5BBA8"/>
                </a:solidFill>
                <a:latin typeface="Calibri"/>
              </a:defRPr>
            </a:pPr>
            <a:r>
              <a:t>HOW TO GET IT</a:t>
            </a:r>
          </a:p>
        </p:txBody>
      </p:sp>
      <p:sp>
        <p:nvSpPr>
          <p:cNvPr id="4" name="TextBox 3"/>
          <p:cNvSpPr txBox="1"/>
          <p:nvPr/>
        </p:nvSpPr>
        <p:spPr>
          <a:xfrm>
            <a:off x="640080" y="658368"/>
            <a:ext cx="10972800" cy="1051560"/>
          </a:xfrm>
          <a:prstGeom prst="rect">
            <a:avLst/>
          </a:prstGeom>
          <a:noFill/>
        </p:spPr>
        <p:txBody>
          <a:bodyPr wrap="square">
            <a:spAutoFit/>
          </a:bodyPr>
          <a:lstStyle/>
          <a:p>
            <a:pPr>
              <a:defRPr sz="3600" b="1">
                <a:solidFill>
                  <a:srgbClr val="FFFFFF"/>
                </a:solidFill>
                <a:latin typeface="Calibri"/>
              </a:defRPr>
            </a:pPr>
            <a:r>
              <a:t>Install, detect, send</a:t>
            </a:r>
          </a:p>
        </p:txBody>
      </p:sp>
      <p:sp>
        <p:nvSpPr>
          <p:cNvPr id="5" name="TextBox 4"/>
          <p:cNvSpPr txBox="1"/>
          <p:nvPr/>
        </p:nvSpPr>
        <p:spPr>
          <a:xfrm>
            <a:off x="640080" y="2880360"/>
            <a:ext cx="10881360" cy="4206240"/>
          </a:xfrm>
          <a:prstGeom prst="rect">
            <a:avLst/>
          </a:prstGeom>
          <a:noFill/>
        </p:spPr>
        <p:txBody>
          <a:bodyPr wrap="square">
            <a:spAutoFit/>
          </a:bodyPr>
          <a:lstStyle/>
          <a:p>
            <a:pPr>
              <a:defRPr sz="2000" b="0">
                <a:solidFill>
                  <a:srgbClr val="E6E4DE"/>
                </a:solidFill>
                <a:latin typeface="Calibri"/>
              </a:defRPr>
            </a:pPr>
            <a:r>
              <a:t>Chrome Web Store listing, or load the unpacked extension from the team zip. Two logged-in Salesforce orgs. From and To must be different.</a:t>
            </a:r>
            <a:br/>
            <a:br/>
            <a:r>
              <a:t>https://chromewebstore.google.com/detail/orgflow/cldfmnjjonlakccebbfnaaihneonhflc</a:t>
            </a:r>
            <a:br/>
            <a:br/>
            <a:r>
              <a:t>This file opens in Google Slides: Drive → New → File upload → Open with Google Slides.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