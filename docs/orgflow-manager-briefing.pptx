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880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4C4A0"/>
                </a:solidFill>
                <a:latin typeface="Calibri"/>
              </a:rPr>
              <a:t>INTERNAL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18688"/>
            <a:ext cx="502920" cy="36576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OrgFlow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7DDE6"/>
                </a:solidFill>
                <a:latin typeface="Calibri"/>
              </a:rPr>
              <a:t>A lightweight way for Salesforce administrators to promote configuration between environments—without a developer workstation or a release-management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4C4A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4C4A0"/>
                </a:solidFill>
                <a:latin typeface="Calibri"/>
              </a:rPr>
              <a:t>1  / 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58568"/>
            <a:ext cx="1078992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A734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D23"/>
                </a:solidFill>
                <a:latin typeface="Calibri"/>
              </a:rPr>
              <a:t>Context and the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71800"/>
            <a:ext cx="1078992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A734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D23"/>
                </a:solidFill>
                <a:latin typeface="Calibri"/>
              </a:rPr>
              <a:t>Intended users and operating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85032"/>
            <a:ext cx="1078992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181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A7348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181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D23"/>
                </a:solidFill>
                <a:latin typeface="Calibri"/>
              </a:rPr>
              <a:t>Comparison with tools already in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98264"/>
            <a:ext cx="1078992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A7348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3133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D23"/>
                </a:solidFill>
                <a:latin typeface="Calibri"/>
              </a:rPr>
              <a:t>Scope, governance, and a proposed 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365D"/>
                </a:solidFill>
                <a:latin typeface="Calibri"/>
              </a:rPr>
              <a:t>Small configuration changes still consume disproportionate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D23"/>
                </a:solidFill>
                <a:latin typeface="Calibri"/>
              </a:rPr>
              <a:t>Administrators typically complete a field, layout, or flow in a sandbox in well under an hour. Moving that work to QA or production often takes much longer than building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5204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95144"/>
            <a:ext cx="3520440" cy="36027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86584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Handoffs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3227832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Promotion frequently waits on someone fluent in VS Code, change sets, or a release tool. The delay is process, not complexity.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240280"/>
            <a:ext cx="35204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95144"/>
            <a:ext cx="3520440" cy="36027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386584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Fragmented 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715768"/>
            <a:ext cx="3227832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Workbench, the Salesforce CLI, and enterprise DevOps platforms each solve a different job. None is designed for a short, named configuration move.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40280"/>
            <a:ext cx="35204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295144"/>
            <a:ext cx="3520440" cy="36027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386584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Inconsistent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715768"/>
            <a:ext cx="3227832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Rebuilding the component list in each environment increases the chance that QA and production do not receive the same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Calibri"/>
              </a:rPr>
              <a:t>Adopt OrgFlow for administrator-led promotions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D23"/>
                </a:solidFill>
                <a:latin typeface="Calibri"/>
              </a:rPr>
              <a:t>OrgFlow is a Chrome extension. Staff select the configuration they built, retrieve a snapshot from the source organization, and deploy that same snapshot to the target organization.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40864"/>
            <a:ext cx="5349240" cy="36027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43230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What this provides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61488"/>
            <a:ext cx="5056632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 guided source-to-target path in the existing browser.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 Salesforce CLI, DX project, or Connected App.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Optional team repository later; not required to start.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 incremental platform license to evaluate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340864"/>
            <a:ext cx="5349240" cy="36027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43230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What this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761488"/>
            <a:ext cx="5056632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Not a replacement for VS Code or engineering CI.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Not a substitute for Copado, Gearset, or Flosum.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Not a data-migration or full-org compare product.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Not an automated dependency analyzer.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Calibri"/>
              </a:rPr>
              <a:t>Intended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46504"/>
            <a:ext cx="53492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3794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Appropriate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67128"/>
            <a:ext cx="50566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Salesforce administrators and configurators working primarily in Setup.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Promotions of a defined set of named metadata (fields, layouts, flows, permission sets).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Teams that want a shared history later, not as a prerequisite.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 time-boxed pilot before any platform discussion.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46504"/>
            <a:ext cx="53492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3794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Not appropriate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67128"/>
            <a:ext cx="50566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Apex, Lightning Web Components, and continuous integration.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Multi-stream release trains and formal environment governance programs.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Record or data movement between organizations.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Discovery of unknown dependencies across an entire org.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Calibri"/>
              </a:rPr>
              <a:t>Four sequential steps; later steps stay closed until the prior one is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69748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92224"/>
            <a:ext cx="2697480" cy="4105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83664"/>
            <a:ext cx="2404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1.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212848"/>
            <a:ext cx="240487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Sign in to the source and target Salesforce organizations in Chrome. Detect sessions. Select From and To. The two organizations must be different.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69748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792224"/>
            <a:ext cx="2697480" cy="4105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883664"/>
            <a:ext cx="2404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2.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212848"/>
            <a:ext cx="240487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Review recent changes in the source organization and select the components to move. OrgFlow assembles the package; staff do not author XML.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269748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92224"/>
            <a:ext cx="2697480" cy="4105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883664"/>
            <a:ext cx="2404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3. 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212848"/>
            <a:ext cx="240487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Retrieve a snapshot from the source. Jira is optional when storing on the device, and required if a shared repository is enabled.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737360"/>
            <a:ext cx="269748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792224"/>
            <a:ext cx="2697480" cy="4105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883664"/>
            <a:ext cx="2404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4. 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212848"/>
            <a:ext cx="2404872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Review the path and contents. Run a validation (dry run) if required. Deploy. The same snapshot can be promoted to the next environment.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365D"/>
                </a:solidFill>
                <a:latin typeface="Calibri"/>
              </a:rPr>
              <a:t>Positioning against tools already in the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  <a:gridCol w="3108960"/>
                <a:gridCol w="3108960"/>
              </a:tblGrid>
              <a:tr h="859536">
                <a:tc>
                  <a:txBody>
                    <a:bodyPr/>
                    <a:lstStyle/>
                    <a:p/>
                  </a:txBody>
                  <a:tcPr marL="73152" marR="73152"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Workbench</a:t>
                      </a:r>
                    </a:p>
                  </a:txBody>
                  <a:tcPr marL="73152" marR="73152"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VS Code and Salesforce CLI</a:t>
                      </a:r>
                    </a:p>
                  </a:txBody>
                  <a:tcPr marL="73152" marR="73152"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OrgFlow</a:t>
                      </a:r>
                    </a:p>
                  </a:txBody>
                  <a:tcPr marL="73152" marR="73152" marT="54864" marB="54864">
                    <a:solidFill>
                      <a:srgbClr val="1B365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365D"/>
                          </a:solidFill>
                          <a:latin typeface="Calibri"/>
                        </a:rPr>
                        <a:t>Primary job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API console for a prepared retrieve or deploy zip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Source-driven development and CI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Administrator-led promotion of named configuration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365D"/>
                          </a:solidFill>
                          <a:latin typeface="Calibri"/>
                        </a:rPr>
                        <a:t>Skill required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Metadata API and package.xml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DX project, authorize, retrieve, deploy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Salesforce Setup and a Chrome sign-in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365D"/>
                          </a:solidFill>
                          <a:latin typeface="Calibri"/>
                        </a:rPr>
                        <a:t>Repeatability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Each organization is a new session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Repository is the system of record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One snapshot can move source → QA → production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365D"/>
                          </a:solidFill>
                          <a:latin typeface="Calibri"/>
                        </a:rPr>
                        <a:t>Oversight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No enforced source and target pair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Governed by branch and pipeline policy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D4450"/>
                          </a:solidFill>
                          <a:latin typeface="Calibri"/>
                        </a:rPr>
                        <a:t>Source and target must differ; confirmation precedes deploy</a:t>
                      </a:r>
                    </a:p>
                  </a:txBody>
                  <a:tcPr marL="73152" marR="73152" marT="54864" marB="54864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365D"/>
                </a:solidFill>
                <a:latin typeface="Calibri"/>
              </a:rPr>
              <a:t>Change sets and enterprise DevOps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00784"/>
            <a:ext cx="5349240" cy="20939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9222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Change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21408"/>
            <a:ext cx="505663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Effective for occasional, well-known components. Slow to assemble, easy to omit a related item, and inconvenient to reuse. OrgFlow keeps a single named list and a single snapshot.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00784"/>
            <a:ext cx="5349240" cy="20939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9222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Copado, Gearset, Flosum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21408"/>
            <a:ext cx="505663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Appropriate for multi-team release trains, compliance, and broad org comparison. Disproportionate for a two-item configuration move. OrgFlow is intended to sit beside those platforms.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77639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32503"/>
            <a:ext cx="5349240" cy="19568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123943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Repository-only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453127"/>
            <a:ext cx="50566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 Git repository without a selection interface still requires a developer. OrgFlow can write versioned snapshots to GitHub, GitLab, or Azure DevOps after components are selected.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77639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032503"/>
            <a:ext cx="5349240" cy="19568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4123943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Deliberate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4453127"/>
            <a:ext cx="50566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OrgFlow does not migrate records, compare entire organizations, or infer dependencies. Staff promote what they selected. That constraint is a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Calibri"/>
              </a:rPr>
              <a:t>Access, blast radius, and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5204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46504"/>
            <a:ext cx="35204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37944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67128"/>
            <a:ext cx="32278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Uses the Salesforce session already present in Chrome. No Connected App. Optional Git credentials remain in that browser profile and are not written to the repository.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5204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46504"/>
            <a:ext cx="35204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837944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Blast radius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167128"/>
            <a:ext cx="32278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Only named metadata is deployed. Source and target cannot be the same organization. Validation is available as a dry run. Apex tests may be executed in production if policy requires coverage.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204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46504"/>
            <a:ext cx="35204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837944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167128"/>
            <a:ext cx="32278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Device storage: local snapshots; Jira optional. Shared repository: Jira key and comment required; versions reside in the team warehouse under a known folder structure.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Calibri"/>
              </a:rPr>
              <a:t>A two-week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46504"/>
            <a:ext cx="53492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3794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67128"/>
            <a:ext cx="50566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Two administrators; two sandbox or disposable organizations.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One representative change (for example a field and layout, or a flow).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Promote source → QA using device storage.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Optional: connect a test repository in the second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46504"/>
            <a:ext cx="5349240" cy="41970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3794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67128"/>
            <a:ext cx="505663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 complete promotion without developer assistance.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The target organization receives the selected components.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No new platform license required to complete the pilot.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A clear decision on whether a shared repository is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348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Calibri"/>
              </a:rPr>
              <a:t>Requested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D23"/>
                </a:solidFill>
                <a:latin typeface="Calibri"/>
              </a:rPr>
              <a:t>Approve a two-week pilot with two administrators. Defer any discussion of replacing existing DevOps tooling until that pilot has a written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5349240" cy="30998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88950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218688"/>
            <a:ext cx="5056632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Chrome Web Store listing, or load the unpacked extension from the internal zip. Two signed-in Salesforce organizations are required. Source and target must be different.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34924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798064"/>
            <a:ext cx="5349240" cy="30998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889504"/>
            <a:ext cx="5056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65D"/>
                </a:solidFill>
                <a:latin typeface="Calibri"/>
              </a:rPr>
              <a:t>Listing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218688"/>
            <a:ext cx="5056632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D4450"/>
                </a:solidFill>
                <a:latin typeface="Calibri"/>
              </a:rPr>
              <a:t>https://chromewebstore.google.com/detail/orgflow/cldfmnjjonlakccebbfnaaihneonhflc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OrgFlow  ·  Internal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